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7374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3876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1230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980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8347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4819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710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6058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240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5895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430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98638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948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9991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3140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6128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F8C37-AD7A-4ABB-8288-946B827AE7AB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697394B-E606-4EB4-9C27-75FAA8CE13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7322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A92B2C7-BE4C-752A-97C5-C05642E0B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hr-HR" sz="3600" dirty="0"/>
              <a:t>Primjena </a:t>
            </a:r>
            <a:r>
              <a:rPr lang="hr-HR" sz="3600" dirty="0" err="1"/>
              <a:t>IoT</a:t>
            </a:r>
            <a:r>
              <a:rPr lang="hr-HR" sz="3600" dirty="0"/>
              <a:t> tehnologija u srednjoškolskom obrazovanju: analiza stavova učenika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A0ECFA3-5B94-9D9D-B69E-BB9CEF4CD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hr-HR" dirty="0"/>
              <a:t>Diplomski rad</a:t>
            </a:r>
            <a:br>
              <a:rPr lang="hr-HR" dirty="0"/>
            </a:br>
            <a:r>
              <a:rPr lang="hr-HR" dirty="0"/>
              <a:t>Magdalena Putanec-Cetinić</a:t>
            </a:r>
            <a:br>
              <a:rPr lang="hr-HR" dirty="0"/>
            </a:br>
            <a:r>
              <a:rPr lang="hr-HR" dirty="0"/>
              <a:t>Mentor: Sandi </a:t>
            </a:r>
            <a:r>
              <a:rPr lang="hr-HR" dirty="0" err="1"/>
              <a:t>Baresi</a:t>
            </a:r>
            <a:r>
              <a:rPr lang="hr-HR" dirty="0"/>
              <a:t> Šegota</a:t>
            </a:r>
            <a:br>
              <a:rPr lang="hr-HR" dirty="0"/>
            </a:br>
            <a:r>
              <a:rPr lang="hr-HR" dirty="0"/>
              <a:t>Sveučilište Jurja Dobrile u Puli</a:t>
            </a:r>
            <a:br>
              <a:rPr lang="hr-HR" dirty="0"/>
            </a:br>
            <a:r>
              <a:rPr lang="hr-HR" dirty="0"/>
              <a:t>2026.</a:t>
            </a:r>
          </a:p>
        </p:txBody>
      </p:sp>
    </p:spTree>
    <p:extLst>
      <p:ext uri="{BB962C8B-B14F-4D97-AF65-F5344CB8AC3E}">
        <p14:creationId xmlns:p14="http://schemas.microsoft.com/office/powerpoint/2010/main" val="411063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F5A5E79-7D95-6974-8714-D685A332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ZAŠTO JE TEMA VAŽNA?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83593FA-4032-AD94-8417-D87478C3F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Pametni uređaji dio su svakodnevnog života učenika</a:t>
            </a:r>
          </a:p>
          <a:p>
            <a:r>
              <a:rPr lang="hr-HR" dirty="0"/>
              <a:t>Učenici tehnologiju često koriste, ali je ne moraju nužno razumjeti</a:t>
            </a:r>
          </a:p>
          <a:p>
            <a:r>
              <a:rPr lang="hr-HR" dirty="0" err="1"/>
              <a:t>IoT</a:t>
            </a:r>
            <a:r>
              <a:rPr lang="hr-HR" dirty="0"/>
              <a:t> povezuje uređaje, podatke, mreže, sigurnost i svakodnevni život</a:t>
            </a:r>
          </a:p>
          <a:p>
            <a:r>
              <a:rPr lang="hr-HR" dirty="0"/>
              <a:t>Škola ima važnu ulogu u razvoju digitalnih kompetencija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1935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48D2433-7643-BBCD-7FCF-C19011BF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 RADA I ISTRAŽIVAČKA PITANJA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2360109-C3E3-A26B-B2DC-DC199D73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Cilj rada:</a:t>
            </a:r>
            <a:br>
              <a:rPr lang="hr-HR" dirty="0"/>
            </a:br>
            <a:r>
              <a:rPr lang="hr-HR" dirty="0"/>
              <a:t>analizirati mogućnosti primjene </a:t>
            </a:r>
            <a:r>
              <a:rPr lang="hr-HR" dirty="0" err="1"/>
              <a:t>IoT</a:t>
            </a:r>
            <a:r>
              <a:rPr lang="hr-HR" dirty="0"/>
              <a:t> tehnologija u srednjoškolskom obrazovanju i ispitati stavove učenika</a:t>
            </a:r>
          </a:p>
          <a:p>
            <a:pPr marL="0" indent="0">
              <a:buNone/>
            </a:pPr>
            <a:r>
              <a:rPr lang="hr-HR" dirty="0"/>
              <a:t>Istraživanje je usmjereno na:</a:t>
            </a:r>
          </a:p>
          <a:p>
            <a:r>
              <a:rPr lang="hr-HR" dirty="0"/>
              <a:t>upoznatost učenika s pojmom </a:t>
            </a:r>
            <a:r>
              <a:rPr lang="hr-HR" dirty="0" err="1"/>
              <a:t>IoT</a:t>
            </a:r>
            <a:endParaRPr lang="hr-HR" dirty="0"/>
          </a:p>
          <a:p>
            <a:r>
              <a:rPr lang="hr-HR" dirty="0"/>
              <a:t>korištenje digitalnih i pametnih uređaja</a:t>
            </a:r>
          </a:p>
          <a:p>
            <a:r>
              <a:rPr lang="hr-HR" dirty="0"/>
              <a:t>stavove o primjeni </a:t>
            </a:r>
            <a:r>
              <a:rPr lang="hr-HR" dirty="0" err="1"/>
              <a:t>IoT</a:t>
            </a:r>
            <a:r>
              <a:rPr lang="hr-HR" dirty="0"/>
              <a:t>-a u nastavi</a:t>
            </a:r>
          </a:p>
          <a:p>
            <a:r>
              <a:rPr lang="hr-HR" dirty="0"/>
              <a:t>sigurnost i privatnost podataka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3260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D75BA84-B946-0305-3AE9-6D549A3C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JE INTERNET STVARI?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363F4D1-674B-9E9A-4729-90A0C339A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Internet stvari, odnosno </a:t>
            </a:r>
            <a:r>
              <a:rPr lang="hr-HR" dirty="0" err="1"/>
              <a:t>IoT</a:t>
            </a:r>
            <a:r>
              <a:rPr lang="hr-HR" dirty="0"/>
              <a:t>, označava povezivanje fizičkih uređaja putem interneta</a:t>
            </a:r>
          </a:p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sustav obično uključuje:</a:t>
            </a:r>
          </a:p>
          <a:p>
            <a:r>
              <a:rPr lang="hr-HR" dirty="0"/>
              <a:t>senzore</a:t>
            </a:r>
          </a:p>
          <a:p>
            <a:r>
              <a:rPr lang="hr-HR" dirty="0"/>
              <a:t>podatke</a:t>
            </a:r>
          </a:p>
          <a:p>
            <a:r>
              <a:rPr lang="hr-HR" dirty="0"/>
              <a:t>mrežnu komunikaciju</a:t>
            </a:r>
          </a:p>
          <a:p>
            <a:r>
              <a:rPr lang="hr-HR" dirty="0"/>
              <a:t>obradu podataka</a:t>
            </a:r>
          </a:p>
          <a:p>
            <a:r>
              <a:rPr lang="hr-HR" dirty="0"/>
              <a:t>korisničko sučelje</a:t>
            </a:r>
          </a:p>
          <a:p>
            <a:pPr marL="0" indent="0">
              <a:buNone/>
            </a:pPr>
            <a:r>
              <a:rPr lang="hr-HR" dirty="0"/>
              <a:t>Primjeri: pametni sat, pametna rasvjeta, senzori, sigurnosne kamere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129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7272AA-69CA-57DB-D694-E6499824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IoT</a:t>
            </a:r>
            <a:r>
              <a:rPr lang="hr-HR" dirty="0"/>
              <a:t> U OBRAZOVANJU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9D85C18-B2C6-973C-E902-299ED90D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može povezati teorijsko znanje s praktičnim primjerima</a:t>
            </a:r>
          </a:p>
          <a:p>
            <a:pPr marL="0" indent="0">
              <a:buNone/>
            </a:pPr>
            <a:r>
              <a:rPr lang="hr-HR" dirty="0"/>
              <a:t>Mogućnosti primjene:</a:t>
            </a:r>
          </a:p>
          <a:p>
            <a:r>
              <a:rPr lang="hr-HR" dirty="0"/>
              <a:t>pametna učionica</a:t>
            </a:r>
          </a:p>
          <a:p>
            <a:r>
              <a:rPr lang="hr-HR" dirty="0"/>
              <a:t>mjerenje temperature, svjetlosti, vlage ili buke</a:t>
            </a:r>
          </a:p>
          <a:p>
            <a:r>
              <a:rPr lang="hr-HR" dirty="0"/>
              <a:t>rad sa stvarnim podacima</a:t>
            </a:r>
          </a:p>
          <a:p>
            <a:r>
              <a:rPr lang="hr-HR" dirty="0"/>
              <a:t>povezivanje informatike i STEM područja</a:t>
            </a:r>
          </a:p>
          <a:p>
            <a:r>
              <a:rPr lang="hr-HR" dirty="0"/>
              <a:t>učenje o sigurnosti i zaštiti podataka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7107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D8E2B8D-E69E-85C1-1B18-465AE471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METODIČKI PRISTUPI POUČAVANJU </a:t>
            </a:r>
            <a:r>
              <a:rPr lang="hr-HR" dirty="0" err="1"/>
              <a:t>IoT</a:t>
            </a:r>
            <a:r>
              <a:rPr lang="hr-HR" dirty="0"/>
              <a:t>-a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8FEC7E4-767C-FC6C-99D4-D9C54C57B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Korisni pristupi:</a:t>
            </a:r>
          </a:p>
          <a:p>
            <a:r>
              <a:rPr lang="hr-HR" dirty="0"/>
              <a:t>poznati primjeri iz svakodnevnog života</a:t>
            </a:r>
          </a:p>
          <a:p>
            <a:r>
              <a:rPr lang="hr-HR" dirty="0"/>
              <a:t>problemska nastava</a:t>
            </a:r>
          </a:p>
          <a:p>
            <a:r>
              <a:rPr lang="hr-HR" dirty="0"/>
              <a:t>praktičan rad</a:t>
            </a:r>
          </a:p>
          <a:p>
            <a:r>
              <a:rPr lang="hr-HR" dirty="0"/>
              <a:t>analogije</a:t>
            </a:r>
          </a:p>
          <a:p>
            <a:r>
              <a:rPr lang="hr-HR" dirty="0"/>
              <a:t>vizualizacija i digitalni alati</a:t>
            </a:r>
          </a:p>
          <a:p>
            <a:r>
              <a:rPr lang="hr-HR" dirty="0"/>
              <a:t>rasprava o sigurnosti i privatnosti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0474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A520803-7DD3-0FB3-2073-E39C15CB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METODOLOGIJA ISTRAŽIVANJA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A00C706-F311-749C-1430-145C5DE0D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Istraživanje je provedeno anketnim upitnikom</a:t>
            </a:r>
          </a:p>
          <a:p>
            <a:r>
              <a:rPr lang="hr-HR" dirty="0"/>
              <a:t>Instrument: Google </a:t>
            </a:r>
            <a:r>
              <a:rPr lang="hr-HR" dirty="0" err="1"/>
              <a:t>Forms</a:t>
            </a:r>
            <a:endParaRPr lang="hr-HR" dirty="0"/>
          </a:p>
          <a:p>
            <a:r>
              <a:rPr lang="hr-HR" dirty="0"/>
              <a:t>Uzorak: 200 učenika srednjih škola</a:t>
            </a:r>
          </a:p>
          <a:p>
            <a:r>
              <a:rPr lang="hr-HR" dirty="0"/>
              <a:t>Vrijeme provedbe: svibanj i lipanj 2026.</a:t>
            </a:r>
          </a:p>
          <a:p>
            <a:r>
              <a:rPr lang="hr-HR" dirty="0"/>
              <a:t>Sudjelovanje: dobrovoljno i anonimno</a:t>
            </a:r>
          </a:p>
          <a:p>
            <a:pPr marL="0" indent="0">
              <a:buNone/>
            </a:pPr>
            <a:r>
              <a:rPr lang="hr-HR" dirty="0"/>
              <a:t>Obrada podataka:</a:t>
            </a:r>
          </a:p>
          <a:p>
            <a:r>
              <a:rPr lang="hr-HR" dirty="0"/>
              <a:t>deskriptivna statistika</a:t>
            </a:r>
          </a:p>
          <a:p>
            <a:r>
              <a:rPr lang="hr-HR" dirty="0"/>
              <a:t>kvalitativna analiza otvorenog pitanja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649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3A8E053-B7A1-0AD3-4CA7-F2D4FC68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STRUKTURA UZORKA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E300451-2D49-1C00-8FC3-E23976583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dirty="0"/>
              <a:t>U istraživanju je sudjelovalo 200 učenika</a:t>
            </a:r>
          </a:p>
          <a:p>
            <a:pPr marL="0" indent="0">
              <a:buNone/>
            </a:pPr>
            <a:r>
              <a:rPr lang="hr-HR" dirty="0"/>
              <a:t>Spol:</a:t>
            </a:r>
          </a:p>
          <a:p>
            <a:r>
              <a:rPr lang="hr-HR" dirty="0"/>
              <a:t>78,5 % učenica</a:t>
            </a:r>
          </a:p>
          <a:p>
            <a:r>
              <a:rPr lang="hr-HR" dirty="0"/>
              <a:t>21,5 % učenika</a:t>
            </a:r>
          </a:p>
          <a:p>
            <a:pPr marL="0" indent="0">
              <a:buNone/>
            </a:pPr>
            <a:r>
              <a:rPr lang="hr-HR" dirty="0"/>
              <a:t>Razred:</a:t>
            </a:r>
          </a:p>
          <a:p>
            <a:r>
              <a:rPr lang="hr-HR" dirty="0"/>
              <a:t>najviše učenika trećeg i četvrtog razreda</a:t>
            </a:r>
          </a:p>
          <a:p>
            <a:pPr marL="0" indent="0">
              <a:buNone/>
            </a:pPr>
            <a:r>
              <a:rPr lang="hr-HR" dirty="0"/>
              <a:t>Vrsta škole:</a:t>
            </a:r>
          </a:p>
          <a:p>
            <a:r>
              <a:rPr lang="hr-HR" dirty="0"/>
              <a:t>67 % strukovna škola</a:t>
            </a:r>
          </a:p>
          <a:p>
            <a:r>
              <a:rPr lang="hr-HR" dirty="0"/>
              <a:t>24,5 % gimnazija</a:t>
            </a:r>
          </a:p>
          <a:p>
            <a:r>
              <a:rPr lang="hr-HR" dirty="0"/>
              <a:t>manji udio umjetnička škola i ostalo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2949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E492541-CC9D-59C7-C795-8DD186C3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KORIŠTENJE UREĐAJA I UPOZNATOST S </a:t>
            </a:r>
            <a:r>
              <a:rPr lang="hr-HR" dirty="0" err="1"/>
              <a:t>IoT</a:t>
            </a:r>
            <a:r>
              <a:rPr lang="hr-HR" dirty="0"/>
              <a:t>-om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681D6BA-8B47-7D35-DE49-8C4771270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Učenici svakodnevno koriste digitalne uređaje</a:t>
            </a:r>
          </a:p>
          <a:p>
            <a:pPr marL="0" indent="0">
              <a:buNone/>
            </a:pPr>
            <a:r>
              <a:rPr lang="hr-HR" dirty="0"/>
              <a:t>Vrijeme korištenja digitalnih uređaja:</a:t>
            </a:r>
          </a:p>
          <a:p>
            <a:r>
              <a:rPr lang="hr-HR" dirty="0"/>
              <a:t>40,5 % koristi ih 3–5 sati dnevno</a:t>
            </a:r>
          </a:p>
          <a:p>
            <a:r>
              <a:rPr lang="hr-HR" dirty="0"/>
              <a:t>36 % koristi ih više od 5 sati dnevno</a:t>
            </a:r>
          </a:p>
          <a:p>
            <a:pPr marL="0" indent="0">
              <a:buNone/>
            </a:pPr>
            <a:r>
              <a:rPr lang="hr-HR" dirty="0"/>
              <a:t>Upoznatost s pojmom </a:t>
            </a:r>
            <a:r>
              <a:rPr lang="hr-HR" dirty="0" err="1"/>
              <a:t>IoT</a:t>
            </a:r>
            <a:r>
              <a:rPr lang="hr-HR" dirty="0"/>
              <a:t>:</a:t>
            </a:r>
          </a:p>
          <a:p>
            <a:r>
              <a:rPr lang="hr-HR" dirty="0"/>
              <a:t>25,5 % čulo je za pojam </a:t>
            </a:r>
            <a:r>
              <a:rPr lang="hr-HR" dirty="0" err="1"/>
              <a:t>IoT</a:t>
            </a:r>
            <a:endParaRPr lang="hr-HR" dirty="0"/>
          </a:p>
          <a:p>
            <a:r>
              <a:rPr lang="hr-HR" dirty="0"/>
              <a:t>74,5 % nije čulo za pojam </a:t>
            </a:r>
            <a:r>
              <a:rPr lang="hr-HR" dirty="0" err="1"/>
              <a:t>IoT</a:t>
            </a:r>
            <a:endParaRPr lang="hr-HR" dirty="0"/>
          </a:p>
          <a:p>
            <a:r>
              <a:rPr lang="hr-HR" dirty="0"/>
              <a:t>Prosječna samoprocjena znanja: 2,13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0585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C4AF98F-5033-D1E5-072B-1F5276FB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STAVOVI O IoT-u U NASTAVI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61D90A-A728-F63D-D223-36249474C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može poboljšati kvalitetu nastave:</a:t>
            </a:r>
          </a:p>
          <a:p>
            <a:r>
              <a:rPr lang="hr-HR" dirty="0"/>
              <a:t>najviše učenika odabralo je srednju vrijednost</a:t>
            </a:r>
          </a:p>
          <a:p>
            <a:r>
              <a:rPr lang="hr-HR" dirty="0"/>
              <a:t>36 % odabralo je više ocjene 4 i 5</a:t>
            </a:r>
          </a:p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može pomoći u razumijevanju informatike i STEM područja:</a:t>
            </a:r>
          </a:p>
          <a:p>
            <a:r>
              <a:rPr lang="hr-HR" dirty="0"/>
              <a:t>48,5 % odabralo je ocjene 4 i 5</a:t>
            </a:r>
          </a:p>
          <a:p>
            <a:pPr marL="0" indent="0">
              <a:buNone/>
            </a:pPr>
            <a:r>
              <a:rPr lang="hr-HR" dirty="0"/>
              <a:t>Želja za učenjem o </a:t>
            </a:r>
            <a:r>
              <a:rPr lang="hr-HR" dirty="0" err="1"/>
              <a:t>IoT</a:t>
            </a:r>
            <a:r>
              <a:rPr lang="hr-HR" dirty="0"/>
              <a:t>-u:</a:t>
            </a:r>
          </a:p>
          <a:p>
            <a:r>
              <a:rPr lang="hr-HR" dirty="0"/>
              <a:t>34 % želi učiti više</a:t>
            </a:r>
          </a:p>
          <a:p>
            <a:r>
              <a:rPr lang="hr-HR" dirty="0"/>
              <a:t>43,5 % nije sigurno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7493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753620-07DA-B969-59BE-34D70A30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SIGURNOST I PRIVATNOST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86B58D5-2C9C-DC57-A37B-A73FE23F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uređaji često prikupljaju podatke</a:t>
            </a:r>
          </a:p>
          <a:p>
            <a:pPr marL="0" indent="0">
              <a:buNone/>
            </a:pPr>
            <a:r>
              <a:rPr lang="hr-HR" dirty="0"/>
              <a:t>Zabrinutost učenika:</a:t>
            </a:r>
          </a:p>
          <a:p>
            <a:r>
              <a:rPr lang="hr-HR" dirty="0"/>
              <a:t>44,5 % odabralo je srednju vrijednost</a:t>
            </a:r>
          </a:p>
          <a:p>
            <a:r>
              <a:rPr lang="hr-HR" dirty="0"/>
              <a:t>35,5 % odabralo je više vrijednosti 4 i 5</a:t>
            </a:r>
          </a:p>
          <a:p>
            <a:pPr marL="0" indent="0">
              <a:buNone/>
            </a:pPr>
            <a:r>
              <a:rPr lang="hr-HR" dirty="0"/>
              <a:t>Potreba za učenjem o sigurnosti:</a:t>
            </a:r>
          </a:p>
          <a:p>
            <a:r>
              <a:rPr lang="hr-HR" dirty="0"/>
              <a:t>60 % učenika smatra da bi se u školi trebalo više učiti o sigurnosti i zaštiti podataka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3182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EA1785B-EAC8-C0EB-E1D1-5B0A81F1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OTVORENI ODGOVORI UČENIKA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0736C7B-A725-9C3B-3B42-524D26F40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Na otvoreno pitanje odgovorilo je 85 učenika</a:t>
            </a:r>
          </a:p>
          <a:p>
            <a:pPr marL="0" indent="0">
              <a:buNone/>
            </a:pPr>
            <a:r>
              <a:rPr lang="hr-HR" dirty="0"/>
              <a:t>Najčešće skupine odgovora:</a:t>
            </a:r>
          </a:p>
          <a:p>
            <a:r>
              <a:rPr lang="hr-HR" dirty="0"/>
              <a:t>nepoznavanje pojma </a:t>
            </a:r>
            <a:r>
              <a:rPr lang="hr-HR" dirty="0" err="1"/>
              <a:t>IoT</a:t>
            </a:r>
            <a:endParaRPr lang="hr-HR" dirty="0"/>
          </a:p>
          <a:p>
            <a:r>
              <a:rPr lang="hr-HR" dirty="0"/>
              <a:t>učenje, ponavljanje gradiva i zadaci</a:t>
            </a:r>
          </a:p>
          <a:p>
            <a:r>
              <a:rPr lang="hr-HR" dirty="0"/>
              <a:t>interaktivna nastava, kvizovi, radionice i grupni rad</a:t>
            </a:r>
          </a:p>
          <a:p>
            <a:r>
              <a:rPr lang="hr-HR" dirty="0"/>
              <a:t>pametna učionica, senzori i ušteda energije</a:t>
            </a:r>
          </a:p>
          <a:p>
            <a:r>
              <a:rPr lang="hr-HR" dirty="0"/>
              <a:t>sigurnost i zaštita podataka</a:t>
            </a:r>
          </a:p>
          <a:p>
            <a:r>
              <a:rPr lang="hr-HR" dirty="0"/>
              <a:t>pojedini kritički stavovi prema dodatnom uvođenju tehnologije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12925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CD46DE-5983-0B63-7A3A-DACFD205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RASPRAVA I OGRANIČENJA ISTRAŽIVANJA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45983EB-05F2-6DCE-17CB-8EEC97669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r-HR" dirty="0"/>
              <a:t>Glavni nalaz:</a:t>
            </a:r>
            <a:br>
              <a:rPr lang="hr-HR" dirty="0"/>
            </a:br>
            <a:r>
              <a:rPr lang="hr-HR" dirty="0"/>
              <a:t>učenici koriste tehnologiju, ali ne razumiju uvijek sustave koji stoje iza nje</a:t>
            </a:r>
          </a:p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treba uvoditi:</a:t>
            </a:r>
          </a:p>
          <a:p>
            <a:r>
              <a:rPr lang="hr-HR" dirty="0"/>
              <a:t>postupno</a:t>
            </a:r>
          </a:p>
          <a:p>
            <a:r>
              <a:rPr lang="hr-HR" dirty="0"/>
              <a:t>kroz poznate primjere</a:t>
            </a:r>
          </a:p>
          <a:p>
            <a:r>
              <a:rPr lang="hr-HR" dirty="0"/>
              <a:t>kroz praktične aktivnosti</a:t>
            </a:r>
          </a:p>
          <a:p>
            <a:r>
              <a:rPr lang="hr-HR" dirty="0"/>
              <a:t>uz naglasak na sigurnost i privatnost</a:t>
            </a:r>
          </a:p>
          <a:p>
            <a:pPr marL="0" indent="0">
              <a:buNone/>
            </a:pPr>
            <a:r>
              <a:rPr lang="hr-HR" dirty="0"/>
              <a:t>Ograničenja:</a:t>
            </a:r>
          </a:p>
          <a:p>
            <a:r>
              <a:rPr lang="hr-HR" dirty="0"/>
              <a:t>prigodni uzorak</a:t>
            </a:r>
          </a:p>
          <a:p>
            <a:r>
              <a:rPr lang="hr-HR" dirty="0"/>
              <a:t>veći udio učenica</a:t>
            </a:r>
          </a:p>
          <a:p>
            <a:r>
              <a:rPr lang="hr-HR" dirty="0"/>
              <a:t>veći udio učenika strukovnih škola</a:t>
            </a:r>
          </a:p>
          <a:p>
            <a:r>
              <a:rPr lang="hr-HR" dirty="0"/>
              <a:t>samoprocjena znanja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73554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064326A-9B1E-A7B3-F42C-B994F802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56D6D0D-8709-819A-6846-AFB3C7D00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 err="1"/>
              <a:t>IoT</a:t>
            </a:r>
            <a:r>
              <a:rPr lang="hr-HR" dirty="0"/>
              <a:t> tehnologije imaju obrazovni potencijal u srednjoškolskom obrazovanju</a:t>
            </a:r>
          </a:p>
          <a:p>
            <a:pPr marL="0" indent="0">
              <a:buNone/>
            </a:pPr>
            <a:r>
              <a:rPr lang="hr-HR" dirty="0"/>
              <a:t>Učenicima ih treba približiti jasno i postupno</a:t>
            </a:r>
          </a:p>
          <a:p>
            <a:r>
              <a:rPr lang="hr-HR" dirty="0"/>
              <a:t>Najveća vrijednost </a:t>
            </a:r>
            <a:r>
              <a:rPr lang="hr-HR" dirty="0" err="1"/>
              <a:t>IoT</a:t>
            </a:r>
            <a:r>
              <a:rPr lang="hr-HR" dirty="0"/>
              <a:t>-a je u povezivanju:</a:t>
            </a:r>
          </a:p>
          <a:p>
            <a:r>
              <a:rPr lang="hr-HR" dirty="0"/>
              <a:t>svakodnevnog iskustva</a:t>
            </a:r>
          </a:p>
          <a:p>
            <a:r>
              <a:rPr lang="hr-HR" dirty="0"/>
              <a:t>podataka</a:t>
            </a:r>
          </a:p>
          <a:p>
            <a:r>
              <a:rPr lang="hr-HR" dirty="0"/>
              <a:t>mreža</a:t>
            </a:r>
          </a:p>
          <a:p>
            <a:r>
              <a:rPr lang="hr-HR" dirty="0"/>
              <a:t>programiranja</a:t>
            </a:r>
          </a:p>
          <a:p>
            <a:r>
              <a:rPr lang="hr-HR" dirty="0"/>
              <a:t>sigurnosti i privatnosti</a:t>
            </a:r>
          </a:p>
          <a:p>
            <a:r>
              <a:rPr lang="hr-HR" dirty="0"/>
              <a:t>Tehnologija ima smisla samo ako je povezana s jasnim ciljevima učenja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18310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niOkvir 4">
            <a:extLst>
              <a:ext uri="{FF2B5EF4-FFF2-40B4-BE49-F238E27FC236}">
                <a16:creationId xmlns:a16="http://schemas.microsoft.com/office/drawing/2014/main" id="{D7D416F5-5386-AA6A-7392-03AA030377A4}"/>
              </a:ext>
            </a:extLst>
          </p:cNvPr>
          <p:cNvSpPr txBox="1"/>
          <p:nvPr/>
        </p:nvSpPr>
        <p:spPr>
          <a:xfrm>
            <a:off x="2826124" y="2101334"/>
            <a:ext cx="61004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tabLst/>
              <a:defRPr/>
            </a:pPr>
            <a:r>
              <a:rPr kumimoji="0" lang="hr-HR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Hvala na pažnji</a:t>
            </a:r>
            <a:r>
              <a:rPr kumimoji="0" lang="hr-HR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42775776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617</Words>
  <Application>Microsoft Office PowerPoint</Application>
  <PresentationFormat>Široki zaslon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Faseta</vt:lpstr>
      <vt:lpstr>Primjena IoT tehnologija u srednjoškolskom obrazovanju: analiza stavova učenika</vt:lpstr>
      <vt:lpstr>ZAŠTO JE TEMA VAŽNA?</vt:lpstr>
      <vt:lpstr>CILJ RADA I ISTRAŽIVAČKA PITANJA</vt:lpstr>
      <vt:lpstr>ŠTO JE INTERNET STVARI?</vt:lpstr>
      <vt:lpstr>IoT U OBRAZOVANJU</vt:lpstr>
      <vt:lpstr>METODIČKI PRISTUPI POUČAVANJU IoT-a</vt:lpstr>
      <vt:lpstr>METODOLOGIJA ISTRAŽIVANJA</vt:lpstr>
      <vt:lpstr>STRUKTURA UZORKA</vt:lpstr>
      <vt:lpstr>KORIŠTENJE UREĐAJA I UPOZNATOST S IoT-om</vt:lpstr>
      <vt:lpstr>STAVOVI O IoT-u U NASTAVI</vt:lpstr>
      <vt:lpstr>SIGURNOST I PRIVATNOST</vt:lpstr>
      <vt:lpstr>OTVORENI ODGOVORI UČENIKA</vt:lpstr>
      <vt:lpstr>RASPRAVA I OGRANIČENJA ISTRAŽIVANJA</vt:lpstr>
      <vt:lpstr>ZAKLJUČAK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Putanec Cetinić</dc:creator>
  <cp:lastModifiedBy>Magdalena Putanec Cetinić</cp:lastModifiedBy>
  <cp:revision>1</cp:revision>
  <dcterms:created xsi:type="dcterms:W3CDTF">2026-07-05T18:38:58Z</dcterms:created>
  <dcterms:modified xsi:type="dcterms:W3CDTF">2026-07-05T19:00:31Z</dcterms:modified>
</cp:coreProperties>
</file>